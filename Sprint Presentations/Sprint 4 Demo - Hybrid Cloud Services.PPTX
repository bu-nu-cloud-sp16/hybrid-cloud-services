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8" r:id="rId3"/>
    <p:sldId id="269" r:id="rId4"/>
    <p:sldId id="270" r:id="rId5"/>
    <p:sldId id="271" r:id="rId6"/>
    <p:sldId id="257" r:id="rId7"/>
    <p:sldId id="266" r:id="rId8"/>
    <p:sldId id="272" r:id="rId9"/>
    <p:sldId id="273" r:id="rId10"/>
    <p:sldId id="261" r:id="rId11"/>
    <p:sldId id="262" r:id="rId12"/>
    <p:sldId id="264" r:id="rId13"/>
    <p:sldId id="265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00" autoAdjust="0"/>
    <p:restoredTop sz="95246"/>
  </p:normalViewPr>
  <p:slideViewPr>
    <p:cSldViewPr snapToGrid="0" showGuides="1">
      <p:cViewPr varScale="1">
        <p:scale>
          <a:sx n="92" d="100"/>
          <a:sy n="92" d="100"/>
        </p:scale>
        <p:origin x="656" y="1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4464028"/>
            <a:ext cx="9144000" cy="1641490"/>
          </a:xfrm>
        </p:spPr>
        <p:txBody>
          <a:bodyPr wrap="none" anchor="t">
            <a:normAutofit/>
          </a:bodyPr>
          <a:lstStyle>
            <a:lvl1pPr algn="r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799" y="3694375"/>
            <a:ext cx="9144000" cy="754025"/>
          </a:xfrm>
        </p:spPr>
        <p:txBody>
          <a:bodyPr anchor="b">
            <a:normAutofit/>
          </a:bodyPr>
          <a:lstStyle>
            <a:lvl1pPr marL="0" indent="0" algn="r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19FB2-3AAB-4D03-B13A-2960828C78E3}" type="datetimeFigureOut">
              <a:rPr lang="en-US" dirty="0"/>
              <a:t>3/29/16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16976-5D93-46E4-A98A-FAD63E4D0EA8}" type="datetimeFigureOut">
              <a:rPr lang="en-US" dirty="0"/>
              <a:t>3/29/16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854532" y="4464028"/>
            <a:ext cx="9144000" cy="1641490"/>
          </a:xfrm>
        </p:spPr>
        <p:txBody>
          <a:bodyPr wrap="none" anchor="t">
            <a:normAutofit/>
          </a:bodyPr>
          <a:lstStyle>
            <a:lvl1pPr algn="l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7000"/>
                        <a:lumOff val="53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854532" y="3693674"/>
            <a:ext cx="9144000" cy="754025"/>
          </a:xfrm>
        </p:spPr>
        <p:txBody>
          <a:bodyPr anchor="b">
            <a:normAutofit/>
          </a:bodyPr>
          <a:lstStyle>
            <a:lvl1pPr marL="0" indent="0" algn="l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9F4F5-F4D2-4D2A-AB60-88D37ADCB869}" type="datetimeFigureOut">
              <a:rPr lang="en-US" dirty="0"/>
              <a:t>3/29/16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0000" y="1825625"/>
            <a:ext cx="5025216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9840" y="1825625"/>
            <a:ext cx="503396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BC6CE-6D1E-47E5-8859-F31AC5380EB2}" type="datetimeFigureOut">
              <a:rPr lang="en-US" dirty="0"/>
              <a:t>3/29/16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681163"/>
            <a:ext cx="5025216" cy="823912"/>
          </a:xfrm>
        </p:spPr>
        <p:txBody>
          <a:bodyPr anchor="b"/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0000" y="2505075"/>
            <a:ext cx="5025216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19840" y="1681163"/>
            <a:ext cx="5035548" cy="823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19840" y="2505075"/>
            <a:ext cx="503554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4E7C4-4DA4-404D-9965-B13F2DD7D8BF}" type="datetimeFigureOut">
              <a:rPr lang="en-US" dirty="0"/>
              <a:t>3/29/16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FB7AA-4A53-424F-AD41-70827B6504BA}" type="datetimeFigureOut">
              <a:rPr lang="en-US" dirty="0"/>
              <a:t>3/29/16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84882-FB12-4BC8-9960-9AD8104D7FAE}" type="datetimeFigureOut">
              <a:rPr lang="en-US" dirty="0"/>
              <a:t>3/29/16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1BD23-6E54-4D9D-AD88-A2813C73CC25}" type="datetimeFigureOut">
              <a:rPr lang="en-US" dirty="0"/>
              <a:t>3/29/16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1A834-4F3C-4AF9-9C74-05EC35A0F292}" type="datetimeFigureOut">
              <a:rPr lang="en-US" dirty="0"/>
              <a:t>3/29/16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367160"/>
            <a:ext cx="10515600" cy="81935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39788" y="987425"/>
            <a:ext cx="10515600" cy="337973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5186516"/>
            <a:ext cx="10514012" cy="682472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0C674-7DFC-42FE-B9CD-82963CDB1557}" type="datetimeFigureOut">
              <a:rPr lang="en-US" dirty="0"/>
              <a:t>3/29/16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489399"/>
            <a:ext cx="10514012" cy="1501826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6456F-F47D-4F25-8053-2A695DA0CA7D}" type="datetimeFigureOut">
              <a:rPr lang="en-US" dirty="0"/>
              <a:t>3/29/16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365125"/>
            <a:ext cx="9302752" cy="2992904"/>
          </a:xfrm>
        </p:spPr>
        <p:txBody>
          <a:bodyPr anchor="ctr"/>
          <a:lstStyle>
            <a:lvl1pPr>
              <a:defRPr sz="4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501729"/>
            <a:ext cx="10512424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C7379-69CC-4837-9905-BEBA22830C8A}" type="datetimeFigureOut">
              <a:rPr lang="en-US" dirty="0"/>
              <a:t>3/29/16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1111044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326967"/>
            <a:ext cx="10515600" cy="251183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50581"/>
            <a:ext cx="10514012" cy="114064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EB8B7E-8AEE-4F10-BFEE-C999AD004D36}" type="datetimeFigureOut">
              <a:rPr lang="en-US" dirty="0"/>
              <a:t>3/29/16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337282" y="188595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356798" y="257175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87994" y="1885950"/>
            <a:ext cx="2936241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77441" y="257175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29035" y="1885950"/>
            <a:ext cx="2932113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29035" y="257175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8F3F9-58BC-440B-B37B-805B9055EF92}" type="datetimeFigureOut">
              <a:rPr lang="en-US" dirty="0"/>
              <a:t>3/29/16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332085" y="4297503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2085" y="2256354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332085" y="4873765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997" y="4297503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56354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7644" y="4873764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04322" y="4297503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04321" y="2256354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04197" y="4873762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A53AF-48EA-489D-8260-9DCAB666386A}" type="datetimeFigureOut">
              <a:rPr lang="en-US" dirty="0"/>
              <a:t>3/29/16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D02AE-B9A4-47BD-AF8E-97E16144138B}" type="datetimeFigureOut">
              <a:rPr lang="en-US" dirty="0"/>
              <a:t>3/29/16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FD78B-DB02-4362-BCDC-98A55456977C}" type="datetimeFigureOut">
              <a:rPr lang="en-US" dirty="0"/>
              <a:t>3/29/16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Relationship Id="rId19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51CF1133-3259-4C45-BABA-5B62D9C6F78D}" type="datetimeFigureOut">
              <a:rPr lang="en-US" dirty="0"/>
              <a:t>3/29/16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3717" y="489188"/>
            <a:ext cx="11094097" cy="1641490"/>
          </a:xfrm>
        </p:spPr>
        <p:txBody>
          <a:bodyPr>
            <a:normAutofit/>
          </a:bodyPr>
          <a:lstStyle/>
          <a:p>
            <a:pPr algn="ctr"/>
            <a:r>
              <a:rPr lang="en-US" sz="6600" dirty="0" smtClean="0">
                <a:effectLst/>
              </a:rPr>
              <a:t>HYBRID CLOUD SERVICE</a:t>
            </a:r>
            <a:endParaRPr lang="en-US" sz="6600" dirty="0">
              <a:effectLst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10342" y="1614196"/>
            <a:ext cx="10187473" cy="5066522"/>
          </a:xfrm>
        </p:spPr>
        <p:txBody>
          <a:bodyPr>
            <a:normAutofit/>
          </a:bodyPr>
          <a:lstStyle/>
          <a:p>
            <a:pPr algn="l"/>
            <a:r>
              <a:rPr lang="en-US" dirty="0" smtClean="0"/>
              <a:t>Sprint </a:t>
            </a:r>
            <a:r>
              <a:rPr lang="en-US" dirty="0" smtClean="0"/>
              <a:t>4 </a:t>
            </a:r>
            <a:r>
              <a:rPr lang="en-US" dirty="0" smtClean="0"/>
              <a:t>demo : Mar </a:t>
            </a:r>
            <a:r>
              <a:rPr lang="en-US" dirty="0" smtClean="0"/>
              <a:t>29</a:t>
            </a:r>
            <a:r>
              <a:rPr lang="en-US" dirty="0" smtClean="0"/>
              <a:t>, </a:t>
            </a:r>
            <a:r>
              <a:rPr lang="en-US" dirty="0" smtClean="0"/>
              <a:t>2016</a:t>
            </a:r>
          </a:p>
          <a:p>
            <a:pPr algn="l"/>
            <a:endParaRPr lang="en-US" dirty="0"/>
          </a:p>
          <a:p>
            <a:pPr algn="l"/>
            <a:endParaRPr lang="en-US" dirty="0" smtClean="0"/>
          </a:p>
          <a:p>
            <a:r>
              <a:rPr lang="en-US" sz="2800" dirty="0" smtClean="0"/>
              <a:t>-Akash Singh</a:t>
            </a:r>
          </a:p>
          <a:p>
            <a:r>
              <a:rPr lang="en-US" sz="2800" dirty="0" smtClean="0"/>
              <a:t>-Jaison Babu</a:t>
            </a:r>
          </a:p>
          <a:p>
            <a:r>
              <a:rPr lang="en-US" sz="2800" dirty="0" smtClean="0"/>
              <a:t>-Surekha Jadhwani</a:t>
            </a:r>
          </a:p>
          <a:p>
            <a:r>
              <a:rPr lang="en-US" sz="2800" dirty="0" smtClean="0"/>
              <a:t>-Vignesh Shanmuganathan</a:t>
            </a:r>
          </a:p>
          <a:p>
            <a:pPr algn="l"/>
            <a:r>
              <a:rPr lang="en-US" sz="2800" dirty="0" smtClean="0"/>
              <a:t>Mentor:  Xu(Simon) Chen</a:t>
            </a:r>
            <a:endParaRPr lang="en-US" sz="2800" dirty="0"/>
          </a:p>
          <a:p>
            <a:endParaRPr lang="en-US" sz="2000" dirty="0" smtClean="0"/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2940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Project Overview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20000" y="1825625"/>
            <a:ext cx="10233800" cy="3068347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sz="3600" dirty="0"/>
              <a:t>Goals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dirty="0"/>
              <a:t>Develop an hybrid cloud model that allows application to support data processing in either private or public or both clouds with seamless data distribution.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dirty="0"/>
              <a:t>Easy user configuration to identify sensitive and non-sensitive data.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dirty="0"/>
              <a:t>Data segregation of live twitter feed using tagging mechanism that allows distribution of data between private and public cloud.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dirty="0"/>
              <a:t>Performance benchmarking of data analysis  jobs between private, public and hybrid cloud.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7519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Cluster Configuration: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1120000" y="1470192"/>
            <a:ext cx="5025216" cy="440991"/>
          </a:xfrm>
        </p:spPr>
        <p:txBody>
          <a:bodyPr>
            <a:normAutofit lnSpcReduction="10000"/>
          </a:bodyPr>
          <a:lstStyle/>
          <a:p>
            <a:r>
              <a:rPr lang="en-US" sz="2800" dirty="0" smtClean="0"/>
              <a:t>AWS </a:t>
            </a:r>
            <a:r>
              <a:rPr lang="en-US" sz="2800" dirty="0"/>
              <a:t>Configuration </a:t>
            </a:r>
            <a:r>
              <a:rPr lang="en-US" sz="2800" dirty="0" smtClean="0"/>
              <a:t>:</a:t>
            </a:r>
            <a:endParaRPr lang="en-US" sz="2800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1120000" y="1938672"/>
            <a:ext cx="5025216" cy="368458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000" dirty="0" smtClean="0"/>
              <a:t>No of machines: 2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 smtClean="0"/>
              <a:t>Ram: 1GB/machine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 smtClean="0"/>
              <a:t>Storage: </a:t>
            </a:r>
            <a:r>
              <a:rPr lang="en-US" sz="2000" dirty="0" smtClean="0"/>
              <a:t>15GB/machine</a:t>
            </a:r>
            <a:endParaRPr lang="en-US" sz="2000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 smtClean="0"/>
              <a:t>Sensitive Data: 4GB </a:t>
            </a:r>
            <a:endParaRPr lang="en-US" sz="2000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3"/>
          </p:nvPr>
        </p:nvSpPr>
        <p:spPr>
          <a:xfrm>
            <a:off x="6319840" y="1442701"/>
            <a:ext cx="5035548" cy="495971"/>
          </a:xfrm>
        </p:spPr>
        <p:txBody>
          <a:bodyPr>
            <a:normAutofit/>
          </a:bodyPr>
          <a:lstStyle/>
          <a:p>
            <a:r>
              <a:rPr lang="en-US" sz="2800" dirty="0" smtClean="0"/>
              <a:t>MOC Configuration:</a:t>
            </a:r>
            <a:endParaRPr lang="en-US" sz="2800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4"/>
          </p:nvPr>
        </p:nvSpPr>
        <p:spPr>
          <a:xfrm>
            <a:off x="6319840" y="1969540"/>
            <a:ext cx="5035548" cy="3684588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000" dirty="0"/>
              <a:t>No of machines</a:t>
            </a:r>
            <a:r>
              <a:rPr lang="en-US" sz="2000" dirty="0" smtClean="0"/>
              <a:t>: 5</a:t>
            </a:r>
            <a:endParaRPr lang="en-US" sz="20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/>
              <a:t>Ram</a:t>
            </a:r>
            <a:r>
              <a:rPr lang="en-US" sz="2000" dirty="0" smtClean="0"/>
              <a:t>: 8GB/machine</a:t>
            </a:r>
            <a:endParaRPr lang="en-US" sz="20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/>
              <a:t>Storage</a:t>
            </a:r>
            <a:r>
              <a:rPr lang="en-US" sz="2000" dirty="0" smtClean="0"/>
              <a:t>: 80GB/machine</a:t>
            </a:r>
            <a:endParaRPr lang="en-US" sz="20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 smtClean="0"/>
              <a:t>Non-Sensitive </a:t>
            </a:r>
            <a:r>
              <a:rPr lang="en-US" sz="2000" dirty="0"/>
              <a:t>Data</a:t>
            </a:r>
            <a:r>
              <a:rPr lang="en-US" sz="2000" dirty="0" smtClean="0"/>
              <a:t>: 15GB</a:t>
            </a:r>
            <a:endParaRPr lang="en-US" sz="2000" dirty="0"/>
          </a:p>
          <a:p>
            <a:endParaRPr lang="en-US" dirty="0"/>
          </a:p>
        </p:txBody>
      </p:sp>
      <p:pic>
        <p:nvPicPr>
          <p:cNvPr id="9" name="Content Placeholder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7551" y="3992139"/>
            <a:ext cx="8729770" cy="2519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50236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77309"/>
          </a:xfrm>
        </p:spPr>
        <p:txBody>
          <a:bodyPr/>
          <a:lstStyle/>
          <a:p>
            <a:r>
              <a:rPr lang="en-US" dirty="0" smtClean="0"/>
              <a:t>Where </a:t>
            </a:r>
            <a:r>
              <a:rPr lang="en-US" dirty="0" smtClean="0"/>
              <a:t>were we standing</a:t>
            </a:r>
            <a:r>
              <a:rPr lang="en-US" dirty="0" smtClean="0"/>
              <a:t>?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1120000" y="1442434"/>
            <a:ext cx="10233800" cy="4734529"/>
          </a:xfrm>
        </p:spPr>
        <p:txBody>
          <a:bodyPr>
            <a:normAutofit fontScale="70000" lnSpcReduction="20000"/>
          </a:bodyPr>
          <a:lstStyle/>
          <a:p>
            <a:pPr marL="0" lvl="0" indent="0">
              <a:buClr>
                <a:srgbClr val="00B050"/>
              </a:buClr>
              <a:buNone/>
            </a:pPr>
            <a:r>
              <a:rPr lang="en-US" sz="4000" b="1" dirty="0" smtClean="0"/>
              <a:t>Progress = 85% goals achieved and ahead of plan.</a:t>
            </a:r>
          </a:p>
          <a:p>
            <a:pPr lvl="0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en-US" dirty="0" smtClean="0"/>
              <a:t>Creating </a:t>
            </a:r>
            <a:r>
              <a:rPr lang="en-US" dirty="0"/>
              <a:t>a public </a:t>
            </a:r>
            <a:r>
              <a:rPr lang="en-US" dirty="0" smtClean="0"/>
              <a:t>cloud </a:t>
            </a:r>
            <a:r>
              <a:rPr lang="en-US" dirty="0"/>
              <a:t>in </a:t>
            </a:r>
            <a:r>
              <a:rPr lang="en-US" dirty="0" smtClean="0"/>
              <a:t>MOC </a:t>
            </a:r>
            <a:r>
              <a:rPr lang="en-US" dirty="0"/>
              <a:t>that contains </a:t>
            </a:r>
            <a:r>
              <a:rPr lang="en-US" dirty="0" smtClean="0"/>
              <a:t>non-sensitive data.</a:t>
            </a:r>
          </a:p>
          <a:p>
            <a:pPr lvl="0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en-US" dirty="0" smtClean="0"/>
              <a:t>Creating </a:t>
            </a:r>
            <a:r>
              <a:rPr lang="en-US" dirty="0"/>
              <a:t>a private cloud in AWS that contains sensitive </a:t>
            </a:r>
            <a:r>
              <a:rPr lang="en-US" dirty="0" smtClean="0"/>
              <a:t>data.</a:t>
            </a:r>
          </a:p>
          <a:p>
            <a:pPr lvl="0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en-US" dirty="0" smtClean="0"/>
              <a:t>Set-up </a:t>
            </a:r>
            <a:r>
              <a:rPr lang="en-US" dirty="0"/>
              <a:t>of Hadoop clusters in AWS and </a:t>
            </a:r>
            <a:r>
              <a:rPr lang="en-US" dirty="0" smtClean="0"/>
              <a:t>MOC.</a:t>
            </a:r>
          </a:p>
          <a:p>
            <a:pPr lvl="0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en-US" dirty="0" smtClean="0"/>
              <a:t>Establishing </a:t>
            </a:r>
            <a:r>
              <a:rPr lang="en-US" dirty="0"/>
              <a:t>communication between AWS and MOC for data </a:t>
            </a:r>
            <a:r>
              <a:rPr lang="en-US" dirty="0" smtClean="0"/>
              <a:t>transfers.</a:t>
            </a:r>
          </a:p>
          <a:p>
            <a:pPr lvl="0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en-US" dirty="0" smtClean="0"/>
              <a:t>A </a:t>
            </a:r>
            <a:r>
              <a:rPr lang="en-US" dirty="0"/>
              <a:t>spark streaming service running on AWS will gather real time data from twitter and partition data according to user configuration for classifying data as sensitive/non-sensitive. The proposed data classifiers include hash tag mechanism and </a:t>
            </a:r>
            <a:r>
              <a:rPr lang="en-US" dirty="0" smtClean="0"/>
              <a:t>linguistics.</a:t>
            </a:r>
          </a:p>
          <a:p>
            <a:pPr lvl="0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en-US" dirty="0" smtClean="0"/>
              <a:t>Based </a:t>
            </a:r>
            <a:r>
              <a:rPr lang="en-US" dirty="0"/>
              <a:t>on the tags/linguistics, the created classifier will distribute data across AWS and </a:t>
            </a:r>
            <a:r>
              <a:rPr lang="en-US" dirty="0" smtClean="0"/>
              <a:t>MOC.</a:t>
            </a:r>
          </a:p>
          <a:p>
            <a:pPr lvl="0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en-US" dirty="0" smtClean="0"/>
              <a:t>Running </a:t>
            </a:r>
            <a:r>
              <a:rPr lang="en-US" dirty="0"/>
              <a:t>jobs in the following setups:</a:t>
            </a:r>
          </a:p>
          <a:p>
            <a:pPr lvl="1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en-US" dirty="0"/>
              <a:t>Running data analysis job on public cloud spanning the complete dataset (sensitive and non-sensitive data).</a:t>
            </a:r>
          </a:p>
          <a:p>
            <a:pPr lvl="1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en-US" dirty="0"/>
              <a:t>Running data analysis job on private cloud spanning the complete dataset.</a:t>
            </a:r>
          </a:p>
          <a:p>
            <a:pPr lvl="1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en-US" dirty="0"/>
              <a:t>Running data analysis job on non-sensitive data on public cloud and on sensitive data on private cloud, in parallel.</a:t>
            </a:r>
          </a:p>
          <a:p>
            <a:pPr lvl="0"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rgbClr val="FFC000"/>
                </a:solidFill>
              </a:rPr>
              <a:t>Performing benchmark analysis on the above proposed configurations.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76550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Where </a:t>
            </a:r>
            <a:r>
              <a:rPr lang="en-US" dirty="0" smtClean="0"/>
              <a:t>were we </a:t>
            </a:r>
            <a:r>
              <a:rPr lang="en-US" dirty="0"/>
              <a:t>standing</a:t>
            </a:r>
            <a:r>
              <a:rPr lang="en-US" dirty="0" smtClean="0"/>
              <a:t>?(cont’d):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20117" y="1690688"/>
            <a:ext cx="9997381" cy="4774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00722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Sprint 4 : Mar </a:t>
            </a:r>
            <a:r>
              <a:rPr lang="en-US" dirty="0" smtClean="0"/>
              <a:t>29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1119999" y="1825624"/>
            <a:ext cx="10505943" cy="4547183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i="1" u="sng" dirty="0" smtClean="0"/>
              <a:t>User story covered: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b="1" dirty="0"/>
              <a:t>As a user , one must be able to run spark analytical job both on Spark Hadoop AWS and MOC Cluster with performance enhancements</a:t>
            </a:r>
            <a:endParaRPr lang="en-US" sz="2000" dirty="0" smtClean="0"/>
          </a:p>
          <a:p>
            <a:pPr lvl="2">
              <a:buFont typeface="Wingdings" panose="05000000000000000000" pitchFamily="2" charset="2"/>
              <a:buChar char="ü"/>
            </a:pPr>
            <a:r>
              <a:rPr lang="en-US" sz="1800" dirty="0"/>
              <a:t>Explore use cases for parallel processing of Spark Analytic jobs in MOC and </a:t>
            </a:r>
            <a:r>
              <a:rPr lang="en-US" sz="1800" dirty="0" smtClean="0"/>
              <a:t>AWS 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en-US" sz="1800" dirty="0" smtClean="0"/>
              <a:t>Implement </a:t>
            </a:r>
            <a:r>
              <a:rPr lang="en-US" sz="1800" dirty="0"/>
              <a:t>use cases for parallel processing of Spark Analytic jobs in MOC and </a:t>
            </a:r>
            <a:r>
              <a:rPr lang="en-US" sz="1800" dirty="0" smtClean="0"/>
              <a:t>AWS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en-US" sz="1800" dirty="0"/>
              <a:t>Create benchmarking </a:t>
            </a:r>
            <a:r>
              <a:rPr lang="en-US" sz="1800" dirty="0" smtClean="0"/>
              <a:t>harness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en-US" sz="1800" dirty="0"/>
              <a:t>Perform analysis of analytical jobs on both private and public cloud</a:t>
            </a:r>
          </a:p>
          <a:p>
            <a:pPr lvl="2">
              <a:buFont typeface="Wingdings" panose="05000000000000000000" pitchFamily="2" charset="2"/>
              <a:buChar char="ü"/>
            </a:pPr>
            <a:endParaRPr lang="en-US" sz="1800" dirty="0" smtClean="0"/>
          </a:p>
          <a:p>
            <a:pPr lvl="2">
              <a:buFont typeface="Wingdings" panose="05000000000000000000" pitchFamily="2" charset="2"/>
              <a:buChar char="ü"/>
            </a:pPr>
            <a:endParaRPr lang="en-US" sz="18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800" dirty="0" smtClean="0"/>
          </a:p>
          <a:p>
            <a:pPr lvl="2">
              <a:buFont typeface="Wingdings" panose="05000000000000000000" pitchFamily="2" charset="2"/>
              <a:buChar char="ü"/>
            </a:pPr>
            <a:endParaRPr lang="en-US" sz="18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800" dirty="0" smtClean="0"/>
          </a:p>
          <a:p>
            <a:pPr lvl="2">
              <a:buFont typeface="Wingdings" panose="05000000000000000000" pitchFamily="2" charset="2"/>
              <a:buChar char="ü"/>
            </a:pPr>
            <a:endParaRPr lang="en-US" sz="18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800" dirty="0" smtClean="0"/>
          </a:p>
          <a:p>
            <a:pPr lvl="2">
              <a:buFont typeface="Wingdings" panose="05000000000000000000" pitchFamily="2" charset="2"/>
              <a:buChar char="ü"/>
            </a:pPr>
            <a:endParaRPr lang="en-US" sz="18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800" dirty="0" smtClean="0"/>
          </a:p>
          <a:p>
            <a:pPr lvl="2">
              <a:buFont typeface="Wingdings" panose="05000000000000000000" pitchFamily="2" charset="2"/>
              <a:buChar char="ü"/>
            </a:pPr>
            <a:endParaRPr lang="en-US" sz="18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800" dirty="0" smtClean="0"/>
          </a:p>
          <a:p>
            <a:pPr lvl="2">
              <a:buFont typeface="Wingdings" panose="05000000000000000000" pitchFamily="2" charset="2"/>
              <a:buChar char="ü"/>
            </a:pPr>
            <a:endParaRPr lang="en-US" sz="18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800" dirty="0" smtClean="0"/>
          </a:p>
          <a:p>
            <a:pPr lvl="2">
              <a:buFont typeface="Wingdings" panose="05000000000000000000" pitchFamily="2" charset="2"/>
              <a:buChar char="ü"/>
            </a:pPr>
            <a:endParaRPr lang="en-US" sz="18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800" dirty="0" smtClean="0"/>
          </a:p>
          <a:p>
            <a:pPr lvl="2">
              <a:buFont typeface="Wingdings" panose="05000000000000000000" pitchFamily="2" charset="2"/>
              <a:buChar char="ü"/>
            </a:pPr>
            <a:endParaRPr lang="en-US" sz="18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800" dirty="0" smtClean="0"/>
          </a:p>
          <a:p>
            <a:pPr lvl="2">
              <a:buFont typeface="Wingdings" panose="05000000000000000000" pitchFamily="2" charset="2"/>
              <a:buChar char="ü"/>
            </a:pPr>
            <a:endParaRPr lang="en-US" sz="18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800" dirty="0" smtClean="0"/>
          </a:p>
          <a:p>
            <a:pPr lvl="2">
              <a:buFont typeface="Wingdings" panose="05000000000000000000" pitchFamily="2" charset="2"/>
              <a:buChar char="ü"/>
            </a:pPr>
            <a:endParaRPr lang="en-US" sz="18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800" dirty="0" smtClean="0"/>
          </a:p>
          <a:p>
            <a:pPr lvl="2">
              <a:buFont typeface="Wingdings" panose="05000000000000000000" pitchFamily="2" charset="2"/>
              <a:buChar char="ü"/>
            </a:pPr>
            <a:endParaRPr lang="en-US" sz="18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800" dirty="0" smtClean="0"/>
          </a:p>
          <a:p>
            <a:pPr lvl="2">
              <a:buFont typeface="Wingdings" panose="05000000000000000000" pitchFamily="2" charset="2"/>
              <a:buChar char="ü"/>
            </a:pPr>
            <a:endParaRPr lang="en-US" sz="18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800" dirty="0" smtClean="0"/>
          </a:p>
          <a:p>
            <a:pPr lvl="2">
              <a:buFont typeface="Wingdings" panose="05000000000000000000" pitchFamily="2" charset="2"/>
              <a:buChar char="ü"/>
            </a:pPr>
            <a:endParaRPr lang="en-US" sz="18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800" dirty="0" smtClean="0"/>
          </a:p>
          <a:p>
            <a:pPr lvl="2">
              <a:buFont typeface="Wingdings" panose="05000000000000000000" pitchFamily="2" charset="2"/>
              <a:buChar char="ü"/>
            </a:pPr>
            <a:endParaRPr lang="en-US" sz="1800" dirty="0" smtClean="0"/>
          </a:p>
          <a:p>
            <a:pPr marL="914400" lvl="2" indent="0">
              <a:buNone/>
            </a:pPr>
            <a:endParaRPr lang="en-US" sz="1600" dirty="0" smtClean="0"/>
          </a:p>
        </p:txBody>
      </p:sp>
    </p:spTree>
    <p:extLst>
      <p:ext uri="{BB962C8B-B14F-4D97-AF65-F5344CB8AC3E}">
        <p14:creationId xmlns:p14="http://schemas.microsoft.com/office/powerpoint/2010/main" val="2137768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Trello Burndown:</a:t>
            </a:r>
            <a:endParaRPr lang="en-US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1036" y="1423842"/>
            <a:ext cx="8769928" cy="5013805"/>
          </a:xfrm>
        </p:spPr>
      </p:pic>
    </p:spTree>
    <p:extLst>
      <p:ext uri="{BB962C8B-B14F-4D97-AF65-F5344CB8AC3E}">
        <p14:creationId xmlns:p14="http://schemas.microsoft.com/office/powerpoint/2010/main" val="8148148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Learnings from the Project: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000" b="1" dirty="0"/>
              <a:t>Private cloud and public cloud set-up in AWS and MOC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b="1" dirty="0"/>
              <a:t>Configuring HDFS in cluster </a:t>
            </a:r>
            <a:r>
              <a:rPr lang="en-US" sz="2000" b="1" dirty="0" smtClean="0"/>
              <a:t>mode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b="1" dirty="0" smtClean="0"/>
              <a:t>Learned and worked on new technologies like Spark, Hadoop </a:t>
            </a:r>
            <a:r>
              <a:rPr lang="en-US" sz="2000" b="1" dirty="0" err="1" smtClean="0"/>
              <a:t>MapReduce</a:t>
            </a:r>
            <a:r>
              <a:rPr lang="en-US" sz="2000" b="1" dirty="0" smtClean="0"/>
              <a:t>, Twitter API.</a:t>
            </a:r>
            <a:endParaRPr lang="en-US" sz="2000" b="1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2000" b="1" dirty="0"/>
              <a:t>Distributed jobs such as Spark streaming, </a:t>
            </a:r>
            <a:r>
              <a:rPr lang="en-US" sz="2000" b="1" dirty="0" smtClean="0"/>
              <a:t>Hadoop analytics </a:t>
            </a:r>
            <a:r>
              <a:rPr lang="en-US" sz="2000" b="1" dirty="0"/>
              <a:t>job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b="1" dirty="0"/>
              <a:t>Allowing data communication between private and public cloud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b="1" dirty="0"/>
              <a:t>Use of SSL layer between private and public cloud to ship the data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b="1" dirty="0"/>
              <a:t>Task tracking tool such as </a:t>
            </a:r>
            <a:r>
              <a:rPr lang="en-US" sz="2000" b="1" dirty="0" err="1"/>
              <a:t>Trello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3681312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Major Innovations: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000" b="1" dirty="0"/>
              <a:t>User defined data tagging mechanism to segregate data between private and public cloud without compromising sensitive information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b="1" dirty="0"/>
              <a:t>Secured data transfer between private and public clouds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b="1" dirty="0"/>
              <a:t>One Auto-scaling feature (Stretch-goal, to be achieved in next sprint)</a:t>
            </a:r>
          </a:p>
        </p:txBody>
      </p:sp>
    </p:spTree>
    <p:extLst>
      <p:ext uri="{BB962C8B-B14F-4D97-AF65-F5344CB8AC3E}">
        <p14:creationId xmlns:p14="http://schemas.microsoft.com/office/powerpoint/2010/main" val="11367128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 smtClean="0"/>
              <a:t>Plan for Sprint 5</a:t>
            </a:r>
            <a:r>
              <a:rPr lang="en-US" b="1" dirty="0" smtClean="0"/>
              <a:t>: Apr 15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0000" y="1825625"/>
            <a:ext cx="10645902" cy="4444546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i="1" u="sng" dirty="0"/>
              <a:t>User story </a:t>
            </a:r>
            <a:r>
              <a:rPr lang="en-US" i="1" u="sng" dirty="0" smtClean="0"/>
              <a:t>planned:</a:t>
            </a:r>
            <a:endParaRPr lang="en-US" i="1" u="sng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b="1" dirty="0"/>
              <a:t>As a user , one must be able to </a:t>
            </a:r>
            <a:r>
              <a:rPr lang="en-US" sz="2000" b="1" dirty="0" smtClean="0"/>
              <a:t>run spark analytical job both  on Spark Hadoop AWS and MOC Cluster with performance enhancements on large data set and consider auto scaling</a:t>
            </a:r>
          </a:p>
          <a:p>
            <a:pPr marL="457200" lvl="1" indent="0">
              <a:buNone/>
            </a:pPr>
            <a:endParaRPr lang="en-US" sz="1800" b="1" dirty="0"/>
          </a:p>
          <a:p>
            <a:pPr lvl="2">
              <a:buFont typeface="Wingdings" panose="05000000000000000000" pitchFamily="2" charset="2"/>
              <a:buChar char="ü"/>
            </a:pPr>
            <a:r>
              <a:rPr lang="en-US" sz="1800" dirty="0" smtClean="0"/>
              <a:t>Implement other </a:t>
            </a:r>
            <a:r>
              <a:rPr lang="en-US" sz="1800" dirty="0"/>
              <a:t>use </a:t>
            </a:r>
            <a:r>
              <a:rPr lang="en-US" sz="1800" dirty="0" smtClean="0"/>
              <a:t>cases </a:t>
            </a:r>
            <a:r>
              <a:rPr lang="en-US" sz="1800" dirty="0"/>
              <a:t>for parallel processing of Spark Analytic jobs in MOC and </a:t>
            </a:r>
            <a:r>
              <a:rPr lang="en-US" sz="1800" dirty="0" smtClean="0"/>
              <a:t>AWS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en-US" sz="1800" dirty="0"/>
              <a:t>Perform analysis of analytical jobs on both private and public </a:t>
            </a:r>
            <a:r>
              <a:rPr lang="en-US" sz="1800" dirty="0" smtClean="0"/>
              <a:t>cloud using benchmarking harness</a:t>
            </a:r>
            <a:endParaRPr lang="en-US" sz="1800" dirty="0" smtClean="0"/>
          </a:p>
          <a:p>
            <a:pPr lvl="2">
              <a:buFont typeface="Wingdings" panose="05000000000000000000" pitchFamily="2" charset="2"/>
              <a:buChar char="ü"/>
            </a:pPr>
            <a:r>
              <a:rPr lang="en-US" sz="1800" dirty="0" smtClean="0"/>
              <a:t>Auto-scaling </a:t>
            </a:r>
            <a:r>
              <a:rPr lang="en-US" sz="1800" dirty="0" smtClean="0"/>
              <a:t>(stretch goal)</a:t>
            </a:r>
          </a:p>
          <a:p>
            <a:pPr lvl="2">
              <a:buFont typeface="Wingdings" panose="05000000000000000000" pitchFamily="2" charset="2"/>
              <a:buChar char="ü"/>
            </a:pPr>
            <a:endParaRPr lang="en-US" sz="1800" dirty="0" smtClean="0"/>
          </a:p>
          <a:p>
            <a:pPr marL="914400" lvl="2" indent="0">
              <a:buNone/>
            </a:pPr>
            <a:endParaRPr lang="en-US" sz="1800" dirty="0" smtClean="0"/>
          </a:p>
        </p:txBody>
      </p:sp>
    </p:spTree>
    <p:extLst>
      <p:ext uri="{BB962C8B-B14F-4D97-AF65-F5344CB8AC3E}">
        <p14:creationId xmlns:p14="http://schemas.microsoft.com/office/powerpoint/2010/main" val="13894105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200" y="1559444"/>
            <a:ext cx="10515600" cy="3954948"/>
          </a:xfrm>
        </p:spPr>
        <p:txBody>
          <a:bodyPr>
            <a:normAutofit/>
          </a:bodyPr>
          <a:lstStyle/>
          <a:p>
            <a:pPr algn="ctr"/>
            <a:r>
              <a:rPr lang="en-US" sz="8800" dirty="0"/>
              <a:t>DEMO: </a:t>
            </a:r>
            <a:r>
              <a:rPr lang="en-US" sz="4400" dirty="0"/>
              <a:t>https://youtu.be/SMEP5S8H3fM</a:t>
            </a:r>
            <a:r>
              <a:rPr lang="en-US" sz="4400" dirty="0" smtClean="0"/>
              <a:t/>
            </a:r>
            <a:br>
              <a:rPr lang="en-US" sz="4400" dirty="0" smtClean="0"/>
            </a:b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19489767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200" y="1559444"/>
            <a:ext cx="10515600" cy="3954948"/>
          </a:xfrm>
        </p:spPr>
        <p:txBody>
          <a:bodyPr>
            <a:normAutofit/>
          </a:bodyPr>
          <a:lstStyle/>
          <a:p>
            <a:pPr algn="ctr"/>
            <a:r>
              <a:rPr lang="en-US" sz="8800" dirty="0" smtClean="0"/>
              <a:t>Questions?</a:t>
            </a:r>
            <a:endParaRPr lang="en-US" sz="8800" dirty="0"/>
          </a:p>
        </p:txBody>
      </p:sp>
    </p:spTree>
    <p:extLst>
      <p:ext uri="{BB962C8B-B14F-4D97-AF65-F5344CB8AC3E}">
        <p14:creationId xmlns:p14="http://schemas.microsoft.com/office/powerpoint/2010/main" val="29904217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200" y="1559444"/>
            <a:ext cx="10515600" cy="3954948"/>
          </a:xfrm>
        </p:spPr>
        <p:txBody>
          <a:bodyPr>
            <a:normAutofit/>
          </a:bodyPr>
          <a:lstStyle/>
          <a:p>
            <a:pPr algn="ctr"/>
            <a:r>
              <a:rPr lang="en-US" sz="8800" dirty="0" smtClean="0"/>
              <a:t/>
            </a:r>
            <a:br>
              <a:rPr lang="en-US" sz="8800" dirty="0" smtClean="0"/>
            </a:br>
            <a:r>
              <a:rPr lang="en-US" sz="8800" dirty="0" smtClean="0"/>
              <a:t>Thank You</a:t>
            </a:r>
            <a:br>
              <a:rPr lang="en-US" sz="8800" dirty="0" smtClean="0"/>
            </a:br>
            <a:endParaRPr lang="en-US" sz="8800" dirty="0"/>
          </a:p>
        </p:txBody>
      </p:sp>
    </p:spTree>
    <p:extLst>
      <p:ext uri="{BB962C8B-B14F-4D97-AF65-F5344CB8AC3E}">
        <p14:creationId xmlns:p14="http://schemas.microsoft.com/office/powerpoint/2010/main" val="27512809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pth">
  <a:themeElements>
    <a:clrScheme name="Depth">
      <a:dk1>
        <a:sysClr val="windowText" lastClr="000000"/>
      </a:dk1>
      <a:lt1>
        <a:sysClr val="window" lastClr="FFFFFF"/>
      </a:lt1>
      <a:dk2>
        <a:srgbClr val="455F51"/>
      </a:dk2>
      <a:lt2>
        <a:srgbClr val="94D7E4"/>
      </a:lt2>
      <a:accent1>
        <a:srgbClr val="41AEBD"/>
      </a:accent1>
      <a:accent2>
        <a:srgbClr val="97E9D5"/>
      </a:accent2>
      <a:accent3>
        <a:srgbClr val="A2CF49"/>
      </a:accent3>
      <a:accent4>
        <a:srgbClr val="608F3D"/>
      </a:accent4>
      <a:accent5>
        <a:srgbClr val="F4DE3A"/>
      </a:accent5>
      <a:accent6>
        <a:srgbClr val="FCB11C"/>
      </a:accent6>
      <a:hlink>
        <a:srgbClr val="FBCA98"/>
      </a:hlink>
      <a:folHlink>
        <a:srgbClr val="D3B86D"/>
      </a:folHlink>
    </a:clrScheme>
    <a:fontScheme name="Depth">
      <a:maj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epth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pth" id="{7BEAFC2A-325C-49C4-AC08-2B765DA903F9}" vid="{1735E755-43E6-43AA-ABA2-C989ECC79A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Depth</Template>
  <TotalTime>1375</TotalTime>
  <Words>598</Words>
  <Application>Microsoft Macintosh PowerPoint</Application>
  <PresentationFormat>Widescreen</PresentationFormat>
  <Paragraphs>97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Corbel</vt:lpstr>
      <vt:lpstr>Courier New</vt:lpstr>
      <vt:lpstr>Wingdings</vt:lpstr>
      <vt:lpstr>Arial</vt:lpstr>
      <vt:lpstr>Depth</vt:lpstr>
      <vt:lpstr>HYBRID CLOUD SERVICE</vt:lpstr>
      <vt:lpstr>Project Overview</vt:lpstr>
      <vt:lpstr>Cluster Configuration:</vt:lpstr>
      <vt:lpstr>Where were we standing?</vt:lpstr>
      <vt:lpstr>Where were we standing?(cont’d):</vt:lpstr>
      <vt:lpstr>Sprint 4 : Mar 29</vt:lpstr>
      <vt:lpstr>Trello Burndown:</vt:lpstr>
      <vt:lpstr>Learnings from the Project:</vt:lpstr>
      <vt:lpstr>Major Innovations:</vt:lpstr>
      <vt:lpstr>Plan for Sprint 5: Apr 15</vt:lpstr>
      <vt:lpstr>DEMO: https://youtu.be/SMEP5S8H3fM </vt:lpstr>
      <vt:lpstr>Questions?</vt:lpstr>
      <vt:lpstr> Thank You 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HYBRID CLOUD SERVICE</dc:title>
  <dc:creator>vignesh skv</dc:creator>
  <cp:lastModifiedBy>Surekha Kishore Jadhwani</cp:lastModifiedBy>
  <cp:revision>136</cp:revision>
  <dcterms:created xsi:type="dcterms:W3CDTF">2016-02-09T01:54:18Z</dcterms:created>
  <dcterms:modified xsi:type="dcterms:W3CDTF">2016-03-29T15:33:31Z</dcterms:modified>
</cp:coreProperties>
</file>